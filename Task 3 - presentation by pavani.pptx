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1"/>
  </p:notesMasterIdLst>
  <p:sldIdLst>
    <p:sldId id="4778" r:id="rId2"/>
    <p:sldId id="4780" r:id="rId3"/>
    <p:sldId id="4779" r:id="rId4"/>
    <p:sldId id="4781" r:id="rId5"/>
    <p:sldId id="4782" r:id="rId6"/>
    <p:sldId id="4784" r:id="rId7"/>
    <p:sldId id="4785" r:id="rId8"/>
    <p:sldId id="4786" r:id="rId9"/>
    <p:sldId id="275" r:id="rId10"/>
  </p:sldIdLst>
  <p:sldSz cx="12192000" cy="6858000"/>
  <p:notesSz cx="6858000" cy="9144000"/>
  <p:embeddedFontLst>
    <p:embeddedFont>
      <p:font typeface="Roboto Medium" charset="0"/>
      <p:regular r:id="rId12"/>
      <p:italic r:id="rId13"/>
    </p:embeddedFont>
    <p:embeddedFont>
      <p:font typeface="Roboto Light" charset="0"/>
      <p:regular r:id="rId14"/>
      <p:italic r:id="rId15"/>
    </p:embeddedFont>
    <p:embeddedFont>
      <p:font typeface="Roboto" charset="0"/>
      <p:regular r:id="rId16"/>
      <p:bold r:id="rId17"/>
      <p:italic r:id="rId18"/>
      <p:boldItalic r:id="rId19"/>
    </p:embeddedFont>
    <p:embeddedFont>
      <p:font typeface="Calibri"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8694" autoAdjust="0"/>
    <p:restoredTop sz="91283" autoAdjust="0"/>
  </p:normalViewPr>
  <p:slideViewPr>
    <p:cSldViewPr snapToGrid="0" showGuides="1">
      <p:cViewPr varScale="1">
        <p:scale>
          <a:sx n="80" d="100"/>
          <a:sy n="80" d="100"/>
        </p:scale>
        <p:origin x="-1075" y="-82"/>
      </p:cViewPr>
      <p:guideLst>
        <p:guide orient="horz" pos="2160"/>
        <p:guide pos="3840"/>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pPr/>
              <a:t>16/06/2026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pPr/>
              <a:t>‹#›</a:t>
            </a:fld>
            <a:endParaRPr lang="en-AU" dirty="0"/>
          </a:p>
        </p:txBody>
      </p:sp>
    </p:spTree>
    <p:extLst>
      <p:ext uri="{BB962C8B-B14F-4D97-AF65-F5344CB8AC3E}">
        <p14:creationId xmlns:p14="http://schemas.microsoft.com/office/powerpoint/2010/main" xmlns=""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pPr/>
              <a:t>9</a:t>
            </a:fld>
            <a:endParaRPr lang="en-AU" dirty="0"/>
          </a:p>
        </p:txBody>
      </p:sp>
    </p:spTree>
    <p:extLst>
      <p:ext uri="{BB962C8B-B14F-4D97-AF65-F5344CB8AC3E}">
        <p14:creationId xmlns:p14="http://schemas.microsoft.com/office/powerpoint/2010/main" xmlns=""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xmlns=""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xmlns=""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xmlns=""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xmlns=""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xmlns=""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xmlns="" val="2638066928"/>
      </p:ext>
    </p:extLst>
  </p:cSld>
  <p:clrMapOvr>
    <a:masterClrMapping/>
  </p:clrMapOvr>
  <p:extLst>
    <p:ext uri="{DCECCB84-F9BA-43D5-87BE-67443E8EF086}">
      <p15:sldGuideLst xmlns:p15="http://schemas.microsoft.com/office/powerpoint/2012/main" xmlns=""/>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xmlns=""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xmlns=""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xmlns=""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xmlns=""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xmlns=""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xmlns=""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xmlns=""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xmlns=""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xmlns=""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xmlns=""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xmlns=""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xmlns=""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xmlns=""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xmlns=""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xmlns=""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xmlns=""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xmlns=""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xmlns=""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xmlns="" val="385265769"/>
      </p:ext>
    </p:extLst>
  </p:cSld>
  <p:clrMapOvr>
    <a:masterClrMapping/>
  </p:clrMapOvr>
  <p:extLst>
    <p:ext uri="{DCECCB84-F9BA-43D5-87BE-67443E8EF086}">
      <p15:sldGuideLst xmlns:p15="http://schemas.microsoft.com/office/powerpoint/2012/main" xmlns=""/>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xmlns=""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xmlns="" val="989650627"/>
      </p:ext>
    </p:extLst>
  </p:cSld>
  <p:clrMapOvr>
    <a:masterClrMapping/>
  </p:clrMapOvr>
  <p:extLst>
    <p:ext uri="{DCECCB84-F9BA-43D5-87BE-67443E8EF086}">
      <p15:sldGuideLst xmlns:p15="http://schemas.microsoft.com/office/powerpoint/2012/main" xmlns=""/>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xmlns=""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xmlns=""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xmlns=""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xmlns=""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xmlns=""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xmlns=""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xmlns=""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xmlns=""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xmlns=""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xmlns=""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xmlns=""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xmlns=""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xmlns=""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xmlns=""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xmlns=""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xmlns=""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xmlns=""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xmlns=""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xmlns=""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xmlns=""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xmlns=""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xmlns=""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xmlns=""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xmlns=""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xmlns=""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xmlns=""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xmlns=""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xmlns=""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xmlns="" val="361308155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xmlns=""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xmlns=""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xmlns=""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xmlns=""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xmlns="" id="{7C949C27-3E05-4AA4-A1A8-5696F6F3C356}"/>
              </a:ext>
            </a:extLst>
          </p:cNvPr>
          <p:cNvSpPr txBox="1"/>
          <p:nvPr/>
        </p:nvSpPr>
        <p:spPr>
          <a:xfrm>
            <a:off x="3171825" y="1419225"/>
            <a:ext cx="8504749" cy="2267404"/>
          </a:xfrm>
          <a:prstGeom prst="rect">
            <a:avLst/>
          </a:prstGeom>
          <a:noFill/>
        </p:spPr>
        <p:txBody>
          <a:bodyPr wrap="square" lIns="0" tIns="0" rIns="0" bIns="0" rtlCol="0" anchor="t">
            <a:noAutofit/>
          </a:bodyPr>
          <a:lstStyle/>
          <a:p>
            <a:pPr algn="l">
              <a:buFont typeface="Arial" pitchFamily="34" charset="0"/>
              <a:buChar char="•"/>
            </a:pPr>
            <a:r>
              <a:rPr lang="en-AU" sz="1400" dirty="0" smtClean="0">
                <a:latin typeface="Calibri" pitchFamily="34" charset="0"/>
                <a:ea typeface="Roboto Light" panose="02000000000000000000" pitchFamily="2" charset="0"/>
                <a:cs typeface="Calibri" pitchFamily="34" charset="0"/>
              </a:rPr>
              <a:t>Kettle was the highest performing chip brand.</a:t>
            </a:r>
          </a:p>
          <a:p>
            <a:pPr algn="l">
              <a:buFont typeface="Arial" pitchFamily="34" charset="0"/>
              <a:buChar char="•"/>
            </a:pPr>
            <a:r>
              <a:rPr lang="en-AU" sz="1400" dirty="0" smtClean="0">
                <a:latin typeface="Calibri" pitchFamily="34" charset="0"/>
                <a:ea typeface="Roboto Light" panose="02000000000000000000" pitchFamily="2" charset="0"/>
                <a:cs typeface="Calibri" pitchFamily="34" charset="0"/>
              </a:rPr>
              <a:t>Family and other customer segments contributed the largest share of sales</a:t>
            </a:r>
          </a:p>
          <a:p>
            <a:pPr algn="l">
              <a:buFont typeface="Arial" pitchFamily="34" charset="0"/>
              <a:buChar char="•"/>
            </a:pPr>
            <a:r>
              <a:rPr lang="en-AU" sz="1400" dirty="0" smtClean="0">
                <a:latin typeface="Calibri" pitchFamily="34" charset="0"/>
                <a:ea typeface="Roboto Light" panose="02000000000000000000" pitchFamily="2" charset="0"/>
                <a:cs typeface="Calibri" pitchFamily="34" charset="0"/>
              </a:rPr>
              <a:t>Mainstream customers generated the highest overall revenue.</a:t>
            </a:r>
          </a:p>
          <a:p>
            <a:pPr algn="l">
              <a:buFont typeface="Arial" pitchFamily="34" charset="0"/>
              <a:buChar char="•"/>
            </a:pPr>
            <a:r>
              <a:rPr lang="en-AU" sz="1400" dirty="0" smtClean="0">
                <a:latin typeface="Calibri" pitchFamily="34" charset="0"/>
                <a:ea typeface="Roboto Light" panose="02000000000000000000" pitchFamily="2" charset="0"/>
                <a:cs typeface="Calibri" pitchFamily="34" charset="0"/>
              </a:rPr>
              <a:t>Larger pack sizes were popular among family households</a:t>
            </a:r>
          </a:p>
          <a:p>
            <a:pPr algn="l">
              <a:buFont typeface="Arial" pitchFamily="34" charset="0"/>
              <a:buChar char="•"/>
            </a:pPr>
            <a:endParaRPr lang="en-AU" sz="1400" dirty="0" smtClean="0">
              <a:latin typeface="Calibri" pitchFamily="34" charset="0"/>
              <a:ea typeface="Roboto Light" panose="02000000000000000000" pitchFamily="2" charset="0"/>
              <a:cs typeface="Calibri" pitchFamily="34" charset="0"/>
            </a:endParaRPr>
          </a:p>
          <a:p>
            <a:pPr algn="l">
              <a:buFont typeface="Arial" pitchFamily="34" charset="0"/>
              <a:buChar char="•"/>
            </a:pPr>
            <a:endParaRPr lang="en-AU" sz="1400" dirty="0">
              <a:latin typeface="Calibri" pitchFamily="34" charset="0"/>
              <a:ea typeface="Roboto Light" panose="02000000000000000000" pitchFamily="2" charset="0"/>
              <a:cs typeface="Calibri" pitchFamily="34" charset="0"/>
            </a:endParaRPr>
          </a:p>
        </p:txBody>
      </p:sp>
      <p:sp>
        <p:nvSpPr>
          <p:cNvPr id="9" name="TextBox 8">
            <a:extLst>
              <a:ext uri="{FF2B5EF4-FFF2-40B4-BE49-F238E27FC236}">
                <a16:creationId xmlns:a16="http://schemas.microsoft.com/office/drawing/2014/main" xmlns="" id="{FF9D96EA-4B80-4F92-A071-B09915E427CE}"/>
              </a:ext>
            </a:extLst>
          </p:cNvPr>
          <p:cNvSpPr txBox="1"/>
          <p:nvPr/>
        </p:nvSpPr>
        <p:spPr>
          <a:xfrm>
            <a:off x="2971801" y="3695700"/>
            <a:ext cx="8704774" cy="2181508"/>
          </a:xfrm>
          <a:prstGeom prst="rect">
            <a:avLst/>
          </a:prstGeom>
          <a:noFill/>
        </p:spPr>
        <p:txBody>
          <a:bodyPr wrap="square" lIns="0" tIns="0" rIns="0" bIns="0" rtlCol="0" anchor="t">
            <a:noAutofit/>
          </a:bodyPr>
          <a:lstStyle/>
          <a:p>
            <a:pPr>
              <a:buFont typeface="Arial" pitchFamily="34" charset="0"/>
              <a:buChar char="•"/>
            </a:pPr>
            <a:r>
              <a:rPr lang="en-AU" sz="1400" dirty="0" smtClean="0">
                <a:latin typeface="Calibri" pitchFamily="34" charset="0"/>
                <a:ea typeface="Roboto Light" panose="02000000000000000000" pitchFamily="2" charset="0"/>
                <a:cs typeface="Calibri" pitchFamily="34" charset="0"/>
              </a:rPr>
              <a:t>Trial stores showed improved performance during the trail period.</a:t>
            </a:r>
          </a:p>
          <a:p>
            <a:pPr>
              <a:buFont typeface="Arial" pitchFamily="34" charset="0"/>
              <a:buChar char="•"/>
            </a:pPr>
            <a:r>
              <a:rPr lang="en-AU" sz="1400" dirty="0" smtClean="0">
                <a:latin typeface="Calibri" pitchFamily="34" charset="0"/>
                <a:ea typeface="Roboto Light" panose="02000000000000000000" pitchFamily="2" charset="0"/>
                <a:cs typeface="Calibri" pitchFamily="34" charset="0"/>
              </a:rPr>
              <a:t>Sales uplift was observed when compared with selected control stores.</a:t>
            </a:r>
          </a:p>
          <a:p>
            <a:pPr>
              <a:buFont typeface="Arial" pitchFamily="34" charset="0"/>
              <a:buChar char="•"/>
            </a:pPr>
            <a:r>
              <a:rPr lang="en-AU" sz="1400" dirty="0" smtClean="0">
                <a:latin typeface="Calibri" pitchFamily="34" charset="0"/>
                <a:ea typeface="Roboto Light" panose="02000000000000000000" pitchFamily="2" charset="0"/>
                <a:cs typeface="Calibri" pitchFamily="34" charset="0"/>
              </a:rPr>
              <a:t>Increased customer participation was a key driver of growth</a:t>
            </a:r>
            <a:r>
              <a:rPr lang="en-AU" sz="1200" dirty="0" smtClean="0">
                <a:latin typeface="Roboto Light" panose="02000000000000000000" pitchFamily="2" charset="0"/>
                <a:ea typeface="Roboto Light" panose="02000000000000000000" pitchFamily="2" charset="0"/>
              </a:rPr>
              <a:t>.</a:t>
            </a:r>
            <a:endParaRPr lang="en-AU" sz="12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xmlns="" val="11735410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1C965FDE-CD9E-44EE-9F26-052053E6C0D4}"/>
              </a:ext>
            </a:extLst>
          </p:cNvPr>
          <p:cNvSpPr>
            <a:spLocks noGrp="1"/>
          </p:cNvSpPr>
          <p:nvPr>
            <p:ph type="title"/>
          </p:nvPr>
        </p:nvSpPr>
        <p:spPr>
          <a:xfrm>
            <a:off x="1162049" y="400050"/>
            <a:ext cx="3038476" cy="1047750"/>
          </a:xfrm>
        </p:spPr>
        <p:txBody>
          <a:bodyPr/>
          <a:lstStyle/>
          <a:p>
            <a:pPr algn="just"/>
            <a:r>
              <a:rPr lang="en-AU" sz="2400" b="1" dirty="0" smtClean="0"/>
              <a:t>Category Behaviour</a:t>
            </a:r>
            <a:endParaRPr lang="en-AU" sz="2400" b="1" dirty="0"/>
          </a:p>
        </p:txBody>
      </p:sp>
      <p:sp>
        <p:nvSpPr>
          <p:cNvPr id="4" name="Text Placeholder 3">
            <a:extLst>
              <a:ext uri="{FF2B5EF4-FFF2-40B4-BE49-F238E27FC236}">
                <a16:creationId xmlns:a16="http://schemas.microsoft.com/office/drawing/2014/main" xmlns="" id="{64B546C5-F3D3-4F8C-85D4-8EBF7F09F047}"/>
              </a:ext>
            </a:extLst>
          </p:cNvPr>
          <p:cNvSpPr>
            <a:spLocks noGrp="1"/>
          </p:cNvSpPr>
          <p:nvPr>
            <p:ph type="body" idx="1"/>
          </p:nvPr>
        </p:nvSpPr>
        <p:spPr>
          <a:xfrm>
            <a:off x="1201737" y="3122612"/>
            <a:ext cx="10333037" cy="3001963"/>
          </a:xfrm>
        </p:spPr>
        <p:txBody>
          <a:bodyPr/>
          <a:lstStyle/>
          <a:p>
            <a:r>
              <a:rPr lang="en-AU" dirty="0" smtClean="0"/>
              <a:t>Customer Purchasing Behaviour</a:t>
            </a:r>
          </a:p>
          <a:p>
            <a:pPr>
              <a:buFont typeface="Wingdings" pitchFamily="2" charset="2"/>
              <a:buChar char="Ø"/>
            </a:pPr>
            <a:r>
              <a:rPr lang="en-AU" sz="1600" dirty="0" smtClean="0"/>
              <a:t>Kettle dominated category sales</a:t>
            </a:r>
          </a:p>
          <a:p>
            <a:pPr>
              <a:buFont typeface="Wingdings" pitchFamily="2" charset="2"/>
              <a:buChar char="Ø"/>
            </a:pPr>
            <a:r>
              <a:rPr lang="en-AU" sz="1600" dirty="0" smtClean="0"/>
              <a:t>Smiths ,Doritos and Pringles were strong secondary brands.</a:t>
            </a:r>
          </a:p>
          <a:p>
            <a:pPr>
              <a:buFont typeface="Wingdings" pitchFamily="2" charset="2"/>
              <a:buChar char="Ø"/>
            </a:pPr>
            <a:r>
              <a:rPr lang="en-AU" sz="1600" dirty="0" smtClean="0"/>
              <a:t>Family oriented customer segments purchased more frequently. </a:t>
            </a:r>
            <a:endParaRPr lang="en-AU" sz="1600" dirty="0"/>
          </a:p>
        </p:txBody>
      </p:sp>
      <p:pic>
        <p:nvPicPr>
          <p:cNvPr id="5" name="Picture 4" descr="top brands by sales.png"/>
          <p:cNvPicPr>
            <a:picLocks noChangeAspect="1"/>
          </p:cNvPicPr>
          <p:nvPr/>
        </p:nvPicPr>
        <p:blipFill>
          <a:blip r:embed="rId2"/>
          <a:stretch>
            <a:fillRect/>
          </a:stretch>
        </p:blipFill>
        <p:spPr>
          <a:xfrm>
            <a:off x="7150098" y="2743200"/>
            <a:ext cx="4653287" cy="3838575"/>
          </a:xfrm>
          <a:prstGeom prst="rect">
            <a:avLst/>
          </a:prstGeom>
        </p:spPr>
      </p:pic>
    </p:spTree>
    <p:extLst>
      <p:ext uri="{BB962C8B-B14F-4D97-AF65-F5344CB8AC3E}">
        <p14:creationId xmlns:p14="http://schemas.microsoft.com/office/powerpoint/2010/main" xmlns="" val="117606352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AE016588-9575-44B2-BAA3-5937B6A9EDA0}"/>
              </a:ext>
            </a:extLst>
          </p:cNvPr>
          <p:cNvSpPr>
            <a:spLocks noGrp="1"/>
          </p:cNvSpPr>
          <p:nvPr>
            <p:ph type="body" sz="quarter" idx="10"/>
          </p:nvPr>
        </p:nvSpPr>
        <p:spPr/>
        <p:txBody>
          <a:bodyPr/>
          <a:lstStyle/>
          <a:p>
            <a:r>
              <a:rPr lang="en-AU" dirty="0" smtClean="0"/>
              <a:t>Affluence and Life Stage Analysis </a:t>
            </a:r>
            <a:endParaRPr lang="en-AU" dirty="0"/>
          </a:p>
        </p:txBody>
      </p:sp>
      <p:pic>
        <p:nvPicPr>
          <p:cNvPr id="10" name="Picture 9">
            <a:extLst>
              <a:ext uri="{FF2B5EF4-FFF2-40B4-BE49-F238E27FC236}">
                <a16:creationId xmlns:a16="http://schemas.microsoft.com/office/drawing/2014/main" xmlns=""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5" name="TextBox 4"/>
          <p:cNvSpPr txBox="1"/>
          <p:nvPr/>
        </p:nvSpPr>
        <p:spPr>
          <a:xfrm>
            <a:off x="1819071" y="1750978"/>
            <a:ext cx="6896911" cy="3745149"/>
          </a:xfrm>
          <a:prstGeom prst="rect">
            <a:avLst/>
          </a:prstGeom>
          <a:noFill/>
        </p:spPr>
        <p:txBody>
          <a:bodyPr wrap="none" lIns="0" tIns="0" rIns="0" bIns="0" rtlCol="0" anchor="t">
            <a:noAutofit/>
          </a:bodyPr>
          <a:lstStyle/>
          <a:p>
            <a:pPr algn="l">
              <a:lnSpc>
                <a:spcPct val="150000"/>
              </a:lnSpc>
              <a:buFont typeface="Wingdings" pitchFamily="2" charset="2"/>
              <a:buChar char="v"/>
            </a:pPr>
            <a:r>
              <a:rPr lang="en-IN" dirty="0" smtClean="0">
                <a:latin typeface="Roboto Light" panose="02000000000000000000" pitchFamily="2" charset="0"/>
                <a:ea typeface="Roboto Light" panose="02000000000000000000" pitchFamily="2" charset="0"/>
              </a:rPr>
              <a:t>Older </a:t>
            </a:r>
            <a:r>
              <a:rPr lang="en-IN" dirty="0" err="1" smtClean="0">
                <a:latin typeface="Roboto Light" panose="02000000000000000000" pitchFamily="2" charset="0"/>
                <a:ea typeface="Roboto Light" panose="02000000000000000000" pitchFamily="2" charset="0"/>
              </a:rPr>
              <a:t>Familes</a:t>
            </a:r>
            <a:r>
              <a:rPr lang="en-IN" dirty="0" smtClean="0">
                <a:latin typeface="Roboto Light" panose="02000000000000000000" pitchFamily="2" charset="0"/>
                <a:ea typeface="Roboto Light" panose="02000000000000000000" pitchFamily="2" charset="0"/>
              </a:rPr>
              <a:t> and Young Families generated significant sales.</a:t>
            </a:r>
          </a:p>
          <a:p>
            <a:pPr algn="l">
              <a:lnSpc>
                <a:spcPct val="150000"/>
              </a:lnSpc>
              <a:buFont typeface="Wingdings" pitchFamily="2" charset="2"/>
              <a:buChar char="v"/>
            </a:pPr>
            <a:r>
              <a:rPr lang="en-IN" dirty="0" smtClean="0">
                <a:latin typeface="Roboto Light" panose="02000000000000000000" pitchFamily="2" charset="0"/>
                <a:ea typeface="Roboto Light" panose="02000000000000000000" pitchFamily="2" charset="0"/>
              </a:rPr>
              <a:t>Mainstream customers represented the largest customer group.</a:t>
            </a:r>
          </a:p>
          <a:p>
            <a:pPr algn="l">
              <a:lnSpc>
                <a:spcPct val="150000"/>
              </a:lnSpc>
              <a:buFont typeface="Wingdings" pitchFamily="2" charset="2"/>
              <a:buChar char="v"/>
            </a:pPr>
            <a:r>
              <a:rPr lang="en-IN" dirty="0" smtClean="0">
                <a:latin typeface="Roboto Light" panose="02000000000000000000" pitchFamily="2" charset="0"/>
                <a:ea typeface="Roboto Light" panose="02000000000000000000" pitchFamily="2" charset="0"/>
              </a:rPr>
              <a:t>Premium customers spent more per shopping </a:t>
            </a:r>
            <a:r>
              <a:rPr lang="en-IN" dirty="0" err="1" smtClean="0">
                <a:latin typeface="Roboto Light" panose="02000000000000000000" pitchFamily="2" charset="0"/>
                <a:ea typeface="Roboto Light" panose="02000000000000000000" pitchFamily="2" charset="0"/>
              </a:rPr>
              <a:t>ocassion</a:t>
            </a:r>
            <a:r>
              <a:rPr lang="en-IN" dirty="0" smtClean="0">
                <a:latin typeface="Roboto Light" panose="02000000000000000000" pitchFamily="2" charset="0"/>
                <a:ea typeface="Roboto Light" panose="02000000000000000000" pitchFamily="2" charset="0"/>
              </a:rPr>
              <a:t>.</a:t>
            </a:r>
          </a:p>
          <a:p>
            <a:pPr algn="l">
              <a:lnSpc>
                <a:spcPct val="150000"/>
              </a:lnSpc>
              <a:buFont typeface="Wingdings" pitchFamily="2" charset="2"/>
              <a:buChar char="v"/>
            </a:pPr>
            <a:r>
              <a:rPr lang="en-IN" dirty="0" smtClean="0">
                <a:latin typeface="Roboto Light" panose="02000000000000000000" pitchFamily="2" charset="0"/>
                <a:ea typeface="Roboto Light" panose="02000000000000000000" pitchFamily="2" charset="0"/>
              </a:rPr>
              <a:t>Budget customers remained important due to volume.</a:t>
            </a:r>
            <a:endParaRPr lang="en-US" dirty="0" err="1" smtClean="0">
              <a:latin typeface="Roboto Light" panose="02000000000000000000" pitchFamily="2" charset="0"/>
              <a:ea typeface="Roboto Light" panose="02000000000000000000" pitchFamily="2" charset="0"/>
            </a:endParaRPr>
          </a:p>
        </p:txBody>
      </p:sp>
      <p:pic>
        <p:nvPicPr>
          <p:cNvPr id="6" name="Picture 5" descr="sales by lifestage.png"/>
          <p:cNvPicPr>
            <a:picLocks noChangeAspect="1"/>
          </p:cNvPicPr>
          <p:nvPr/>
        </p:nvPicPr>
        <p:blipFill>
          <a:blip r:embed="rId3"/>
          <a:stretch>
            <a:fillRect/>
          </a:stretch>
        </p:blipFill>
        <p:spPr>
          <a:xfrm>
            <a:off x="7809370" y="2470826"/>
            <a:ext cx="3761362" cy="3424136"/>
          </a:xfrm>
          <a:prstGeom prst="rect">
            <a:avLst/>
          </a:prstGeom>
        </p:spPr>
      </p:pic>
    </p:spTree>
    <p:extLst>
      <p:ext uri="{BB962C8B-B14F-4D97-AF65-F5344CB8AC3E}">
        <p14:creationId xmlns:p14="http://schemas.microsoft.com/office/powerpoint/2010/main" xmlns="" val="21433292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AE016588-9575-44B2-BAA3-5937B6A9EDA0}"/>
              </a:ext>
            </a:extLst>
          </p:cNvPr>
          <p:cNvSpPr>
            <a:spLocks noGrp="1"/>
          </p:cNvSpPr>
          <p:nvPr>
            <p:ph type="body" sz="quarter" idx="10"/>
          </p:nvPr>
        </p:nvSpPr>
        <p:spPr/>
        <p:txBody>
          <a:bodyPr/>
          <a:lstStyle/>
          <a:p>
            <a:r>
              <a:rPr lang="en-AU" dirty="0" smtClean="0"/>
              <a:t>Trial Store Performance</a:t>
            </a:r>
            <a:endParaRPr lang="en-AU" dirty="0"/>
          </a:p>
        </p:txBody>
      </p:sp>
      <p:pic>
        <p:nvPicPr>
          <p:cNvPr id="2" name="Picture 1">
            <a:extLst>
              <a:ext uri="{FF2B5EF4-FFF2-40B4-BE49-F238E27FC236}">
                <a16:creationId xmlns:a16="http://schemas.microsoft.com/office/drawing/2014/main" xmlns=""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sp>
        <p:nvSpPr>
          <p:cNvPr id="5" name="TextBox 4"/>
          <p:cNvSpPr txBox="1"/>
          <p:nvPr/>
        </p:nvSpPr>
        <p:spPr>
          <a:xfrm>
            <a:off x="1322962" y="1614792"/>
            <a:ext cx="7393021" cy="4202348"/>
          </a:xfrm>
          <a:prstGeom prst="rect">
            <a:avLst/>
          </a:prstGeom>
          <a:noFill/>
        </p:spPr>
        <p:txBody>
          <a:bodyPr wrap="none" lIns="0" tIns="0" rIns="0" bIns="0" rtlCol="0" anchor="t">
            <a:noAutofit/>
          </a:bodyPr>
          <a:lstStyle/>
          <a:p>
            <a:pPr algn="l"/>
            <a:endParaRPr lang="en-US" sz="1200" dirty="0" err="1" smtClean="0">
              <a:latin typeface="Roboto Light" panose="02000000000000000000" pitchFamily="2" charset="0"/>
              <a:ea typeface="Roboto Light" panose="02000000000000000000" pitchFamily="2" charset="0"/>
            </a:endParaRPr>
          </a:p>
        </p:txBody>
      </p:sp>
      <p:sp>
        <p:nvSpPr>
          <p:cNvPr id="6" name="TextBox 5"/>
          <p:cNvSpPr txBox="1"/>
          <p:nvPr/>
        </p:nvSpPr>
        <p:spPr>
          <a:xfrm>
            <a:off x="1196502" y="1400783"/>
            <a:ext cx="5778230" cy="4610911"/>
          </a:xfrm>
          <a:prstGeom prst="rect">
            <a:avLst/>
          </a:prstGeom>
          <a:noFill/>
        </p:spPr>
        <p:txBody>
          <a:bodyPr wrap="square" lIns="0" tIns="0" rIns="0" bIns="0" rtlCol="0" anchor="t">
            <a:noAutofit/>
          </a:bodyPr>
          <a:lstStyle/>
          <a:p>
            <a:pPr algn="l">
              <a:lnSpc>
                <a:spcPct val="200000"/>
              </a:lnSpc>
            </a:pPr>
            <a:r>
              <a:rPr lang="en-IN" sz="1600" dirty="0" smtClean="0">
                <a:latin typeface="Roboto Light" panose="02000000000000000000" pitchFamily="2" charset="0"/>
                <a:ea typeface="Roboto Light" panose="02000000000000000000" pitchFamily="2" charset="0"/>
              </a:rPr>
              <a:t>Control Store Selection:</a:t>
            </a:r>
          </a:p>
          <a:p>
            <a:pPr algn="l">
              <a:lnSpc>
                <a:spcPct val="200000"/>
              </a:lnSpc>
            </a:pPr>
            <a:r>
              <a:rPr lang="en-IN" sz="1600" dirty="0" smtClean="0">
                <a:latin typeface="Roboto Light" panose="02000000000000000000" pitchFamily="2" charset="0"/>
                <a:ea typeface="Roboto Light" panose="02000000000000000000" pitchFamily="2" charset="0"/>
              </a:rPr>
              <a:t>Trial stores:</a:t>
            </a:r>
          </a:p>
          <a:p>
            <a:pPr algn="l">
              <a:lnSpc>
                <a:spcPct val="200000"/>
              </a:lnSpc>
              <a:buFont typeface="Arial" pitchFamily="34" charset="0"/>
              <a:buChar char="•"/>
            </a:pPr>
            <a:r>
              <a:rPr lang="en-IN" sz="1600" dirty="0" smtClean="0">
                <a:latin typeface="Roboto Light" panose="02000000000000000000" pitchFamily="2" charset="0"/>
                <a:ea typeface="Roboto Light" panose="02000000000000000000" pitchFamily="2" charset="0"/>
              </a:rPr>
              <a:t>Store 77</a:t>
            </a:r>
          </a:p>
          <a:p>
            <a:pPr algn="l">
              <a:lnSpc>
                <a:spcPct val="200000"/>
              </a:lnSpc>
              <a:buFont typeface="Arial" pitchFamily="34" charset="0"/>
              <a:buChar char="•"/>
            </a:pPr>
            <a:r>
              <a:rPr lang="en-IN" sz="1600" dirty="0" smtClean="0">
                <a:latin typeface="Roboto Light" panose="02000000000000000000" pitchFamily="2" charset="0"/>
                <a:ea typeface="Roboto Light" panose="02000000000000000000" pitchFamily="2" charset="0"/>
              </a:rPr>
              <a:t>Store 86</a:t>
            </a:r>
          </a:p>
          <a:p>
            <a:pPr algn="l">
              <a:lnSpc>
                <a:spcPct val="200000"/>
              </a:lnSpc>
              <a:buFont typeface="Arial" pitchFamily="34" charset="0"/>
              <a:buChar char="•"/>
            </a:pPr>
            <a:r>
              <a:rPr lang="en-IN" sz="1600" dirty="0" smtClean="0">
                <a:latin typeface="Roboto Light" panose="02000000000000000000" pitchFamily="2" charset="0"/>
                <a:ea typeface="Roboto Light" panose="02000000000000000000" pitchFamily="2" charset="0"/>
              </a:rPr>
              <a:t>Store 88</a:t>
            </a:r>
          </a:p>
          <a:p>
            <a:pPr algn="l">
              <a:lnSpc>
                <a:spcPct val="200000"/>
              </a:lnSpc>
            </a:pPr>
            <a:r>
              <a:rPr lang="en-IN" sz="1600" dirty="0" smtClean="0">
                <a:latin typeface="Roboto Light" panose="02000000000000000000" pitchFamily="2" charset="0"/>
                <a:ea typeface="Roboto Light" panose="02000000000000000000" pitchFamily="2" charset="0"/>
              </a:rPr>
              <a:t>Control stores selected using:</a:t>
            </a:r>
          </a:p>
          <a:p>
            <a:pPr algn="l">
              <a:lnSpc>
                <a:spcPct val="200000"/>
              </a:lnSpc>
              <a:buFont typeface="Arial" pitchFamily="34" charset="0"/>
              <a:buChar char="•"/>
            </a:pPr>
            <a:r>
              <a:rPr lang="en-IN" sz="1600" dirty="0" smtClean="0">
                <a:latin typeface="Roboto Light" panose="02000000000000000000" pitchFamily="2" charset="0"/>
                <a:ea typeface="Roboto Light" panose="02000000000000000000" pitchFamily="2" charset="0"/>
              </a:rPr>
              <a:t>Sales correlation</a:t>
            </a:r>
          </a:p>
          <a:p>
            <a:pPr algn="l">
              <a:lnSpc>
                <a:spcPct val="200000"/>
              </a:lnSpc>
              <a:buFont typeface="Arial" pitchFamily="34" charset="0"/>
              <a:buChar char="•"/>
            </a:pPr>
            <a:r>
              <a:rPr lang="en-IN" sz="1600" dirty="0" smtClean="0">
                <a:latin typeface="Roboto Light" panose="02000000000000000000" pitchFamily="2" charset="0"/>
                <a:ea typeface="Roboto Light" panose="02000000000000000000" pitchFamily="2" charset="0"/>
              </a:rPr>
              <a:t>Customer similarity</a:t>
            </a:r>
          </a:p>
          <a:p>
            <a:pPr algn="l">
              <a:lnSpc>
                <a:spcPct val="200000"/>
              </a:lnSpc>
              <a:buFont typeface="Arial" pitchFamily="34" charset="0"/>
              <a:buChar char="•"/>
            </a:pPr>
            <a:r>
              <a:rPr lang="en-IN" sz="1600" dirty="0" smtClean="0">
                <a:latin typeface="Roboto Light" panose="02000000000000000000" pitchFamily="2" charset="0"/>
                <a:ea typeface="Roboto Light" panose="02000000000000000000" pitchFamily="2" charset="0"/>
              </a:rPr>
              <a:t>Transaction similarity</a:t>
            </a:r>
          </a:p>
          <a:p>
            <a:pPr algn="l">
              <a:buFont typeface="Arial" pitchFamily="34" charset="0"/>
              <a:buChar char="•"/>
            </a:pPr>
            <a:endParaRPr lang="en-IN" sz="1600" dirty="0" smtClean="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xmlns="" val="422121276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1C965FDE-CD9E-44EE-9F26-052053E6C0D4}"/>
              </a:ext>
            </a:extLst>
          </p:cNvPr>
          <p:cNvSpPr>
            <a:spLocks noGrp="1"/>
          </p:cNvSpPr>
          <p:nvPr>
            <p:ph type="title"/>
          </p:nvPr>
        </p:nvSpPr>
        <p:spPr>
          <a:xfrm>
            <a:off x="1152525" y="295275"/>
            <a:ext cx="3429000" cy="819150"/>
          </a:xfrm>
        </p:spPr>
        <p:txBody>
          <a:bodyPr/>
          <a:lstStyle/>
          <a:p>
            <a:r>
              <a:rPr lang="en-AU" sz="2400" dirty="0" smtClean="0"/>
              <a:t>Trial Results</a:t>
            </a:r>
            <a:endParaRPr lang="en-AU" sz="2400" dirty="0"/>
          </a:p>
        </p:txBody>
      </p:sp>
      <p:sp>
        <p:nvSpPr>
          <p:cNvPr id="4" name="Text Placeholder 3">
            <a:extLst>
              <a:ext uri="{FF2B5EF4-FFF2-40B4-BE49-F238E27FC236}">
                <a16:creationId xmlns:a16="http://schemas.microsoft.com/office/drawing/2014/main" xmlns="" id="{64B546C5-F3D3-4F8C-85D4-8EBF7F09F047}"/>
              </a:ext>
            </a:extLst>
          </p:cNvPr>
          <p:cNvSpPr>
            <a:spLocks noGrp="1"/>
          </p:cNvSpPr>
          <p:nvPr>
            <p:ph type="body" idx="1"/>
          </p:nvPr>
        </p:nvSpPr>
        <p:spPr>
          <a:xfrm>
            <a:off x="1125538" y="990600"/>
            <a:ext cx="4475162" cy="3724275"/>
          </a:xfrm>
        </p:spPr>
        <p:txBody>
          <a:bodyPr/>
          <a:lstStyle/>
          <a:p>
            <a:r>
              <a:rPr lang="en-AU" sz="2000" dirty="0" smtClean="0"/>
              <a:t>Store 77</a:t>
            </a:r>
          </a:p>
          <a:p>
            <a:pPr>
              <a:buFont typeface="Arial" pitchFamily="34" charset="0"/>
              <a:buChar char="•"/>
            </a:pPr>
            <a:r>
              <a:rPr lang="en-AU" sz="1800" dirty="0" smtClean="0"/>
              <a:t>positive sales uplift observed</a:t>
            </a:r>
          </a:p>
          <a:p>
            <a:pPr>
              <a:buFont typeface="Arial" pitchFamily="34" charset="0"/>
              <a:buChar char="•"/>
            </a:pPr>
            <a:r>
              <a:rPr lang="en-AU" sz="1800" dirty="0" smtClean="0"/>
              <a:t>Higher customer engagement</a:t>
            </a:r>
          </a:p>
          <a:p>
            <a:pPr>
              <a:buFont typeface="Arial" pitchFamily="34" charset="0"/>
              <a:buChar char="•"/>
            </a:pPr>
            <a:endParaRPr lang="en-AU" sz="1800" dirty="0"/>
          </a:p>
        </p:txBody>
      </p:sp>
      <p:pic>
        <p:nvPicPr>
          <p:cNvPr id="8" name="Picture 7" descr="trial_77.png"/>
          <p:cNvPicPr>
            <a:picLocks noChangeAspect="1"/>
          </p:cNvPicPr>
          <p:nvPr/>
        </p:nvPicPr>
        <p:blipFill>
          <a:blip r:embed="rId2"/>
          <a:stretch>
            <a:fillRect/>
          </a:stretch>
        </p:blipFill>
        <p:spPr>
          <a:xfrm>
            <a:off x="2800349" y="2243137"/>
            <a:ext cx="8562976" cy="4281489"/>
          </a:xfrm>
          <a:prstGeom prst="rect">
            <a:avLst/>
          </a:prstGeom>
        </p:spPr>
      </p:pic>
    </p:spTree>
    <p:extLst>
      <p:ext uri="{BB962C8B-B14F-4D97-AF65-F5344CB8AC3E}">
        <p14:creationId xmlns:p14="http://schemas.microsoft.com/office/powerpoint/2010/main" xmlns="" val="33774783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AE016588-9575-44B2-BAA3-5937B6A9EDA0}"/>
              </a:ext>
            </a:extLst>
          </p:cNvPr>
          <p:cNvSpPr>
            <a:spLocks noGrp="1"/>
          </p:cNvSpPr>
          <p:nvPr>
            <p:ph type="body" sz="quarter" idx="10"/>
          </p:nvPr>
        </p:nvSpPr>
        <p:spPr>
          <a:xfrm>
            <a:off x="1196975" y="453371"/>
            <a:ext cx="10479600" cy="1754808"/>
          </a:xfrm>
        </p:spPr>
        <p:txBody>
          <a:bodyPr/>
          <a:lstStyle/>
          <a:p>
            <a:r>
              <a:rPr lang="en-AU" sz="2800" dirty="0" smtClean="0"/>
              <a:t>Store 86</a:t>
            </a:r>
          </a:p>
          <a:p>
            <a:pPr>
              <a:buFont typeface="Arial" pitchFamily="34" charset="0"/>
              <a:buChar char="•"/>
            </a:pPr>
            <a:r>
              <a:rPr lang="en-AU" dirty="0" smtClean="0"/>
              <a:t>Moderate improvement</a:t>
            </a:r>
          </a:p>
          <a:p>
            <a:pPr>
              <a:buFont typeface="Arial" pitchFamily="34" charset="0"/>
              <a:buChar char="•"/>
            </a:pPr>
            <a:r>
              <a:rPr lang="en-AU" dirty="0" smtClean="0"/>
              <a:t>Smaller impact than store 77.</a:t>
            </a:r>
          </a:p>
          <a:p>
            <a:endParaRPr lang="en-AU" dirty="0"/>
          </a:p>
        </p:txBody>
      </p:sp>
      <p:pic>
        <p:nvPicPr>
          <p:cNvPr id="2" name="Picture 1">
            <a:extLst>
              <a:ext uri="{FF2B5EF4-FFF2-40B4-BE49-F238E27FC236}">
                <a16:creationId xmlns:a16="http://schemas.microsoft.com/office/drawing/2014/main" xmlns=""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pic>
        <p:nvPicPr>
          <p:cNvPr id="5" name="Picture 4" descr="trial_86.png"/>
          <p:cNvPicPr>
            <a:picLocks noChangeAspect="1"/>
          </p:cNvPicPr>
          <p:nvPr/>
        </p:nvPicPr>
        <p:blipFill>
          <a:blip r:embed="rId3"/>
          <a:stretch>
            <a:fillRect/>
          </a:stretch>
        </p:blipFill>
        <p:spPr>
          <a:xfrm>
            <a:off x="1523990" y="2003897"/>
            <a:ext cx="9144019" cy="4036979"/>
          </a:xfrm>
          <a:prstGeom prst="rect">
            <a:avLst/>
          </a:prstGeom>
        </p:spPr>
      </p:pic>
    </p:spTree>
    <p:extLst>
      <p:ext uri="{BB962C8B-B14F-4D97-AF65-F5344CB8AC3E}">
        <p14:creationId xmlns:p14="http://schemas.microsoft.com/office/powerpoint/2010/main" xmlns="" val="523037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AE016588-9575-44B2-BAA3-5937B6A9EDA0}"/>
              </a:ext>
            </a:extLst>
          </p:cNvPr>
          <p:cNvSpPr>
            <a:spLocks noGrp="1"/>
          </p:cNvSpPr>
          <p:nvPr>
            <p:ph type="body" sz="quarter" idx="10"/>
          </p:nvPr>
        </p:nvSpPr>
        <p:spPr>
          <a:xfrm>
            <a:off x="1196975" y="453370"/>
            <a:ext cx="10479600" cy="1715897"/>
          </a:xfrm>
        </p:spPr>
        <p:txBody>
          <a:bodyPr/>
          <a:lstStyle/>
          <a:p>
            <a:r>
              <a:rPr lang="en-AU" sz="2800" dirty="0" smtClean="0"/>
              <a:t>Store 88</a:t>
            </a:r>
          </a:p>
          <a:p>
            <a:pPr>
              <a:buFont typeface="Arial" pitchFamily="34" charset="0"/>
              <a:buChar char="•"/>
            </a:pPr>
            <a:r>
              <a:rPr lang="en-AU" dirty="0" smtClean="0"/>
              <a:t>Strong sales growth during trial period.</a:t>
            </a:r>
          </a:p>
          <a:p>
            <a:pPr>
              <a:buFont typeface="Arial" pitchFamily="34" charset="0"/>
              <a:buChar char="•"/>
            </a:pPr>
            <a:r>
              <a:rPr lang="en-AU" dirty="0" smtClean="0"/>
              <a:t>Trial considered successful.</a:t>
            </a:r>
          </a:p>
          <a:p>
            <a:endParaRPr lang="en-AU" dirty="0"/>
          </a:p>
        </p:txBody>
      </p:sp>
      <p:pic>
        <p:nvPicPr>
          <p:cNvPr id="2" name="Picture 1">
            <a:extLst>
              <a:ext uri="{FF2B5EF4-FFF2-40B4-BE49-F238E27FC236}">
                <a16:creationId xmlns:a16="http://schemas.microsoft.com/office/drawing/2014/main" xmlns=""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5" name="Picture 4" descr="trial_88.png"/>
          <p:cNvPicPr>
            <a:picLocks noChangeAspect="1"/>
          </p:cNvPicPr>
          <p:nvPr/>
        </p:nvPicPr>
        <p:blipFill>
          <a:blip r:embed="rId3"/>
          <a:stretch>
            <a:fillRect/>
          </a:stretch>
        </p:blipFill>
        <p:spPr>
          <a:xfrm>
            <a:off x="1523990" y="1974714"/>
            <a:ext cx="9144019" cy="4134256"/>
          </a:xfrm>
          <a:prstGeom prst="rect">
            <a:avLst/>
          </a:prstGeom>
        </p:spPr>
      </p:pic>
    </p:spTree>
    <p:extLst>
      <p:ext uri="{BB962C8B-B14F-4D97-AF65-F5344CB8AC3E}">
        <p14:creationId xmlns:p14="http://schemas.microsoft.com/office/powerpoint/2010/main" xmlns="" val="267634983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71576" y="371475"/>
            <a:ext cx="4019550" cy="581025"/>
          </a:xfrm>
          <a:prstGeom prst="rect">
            <a:avLst/>
          </a:prstGeom>
          <a:noFill/>
        </p:spPr>
        <p:txBody>
          <a:bodyPr wrap="square" lIns="0" tIns="0" rIns="0" bIns="0" rtlCol="0" anchor="t">
            <a:noAutofit/>
          </a:bodyPr>
          <a:lstStyle/>
          <a:p>
            <a:pPr algn="l"/>
            <a:r>
              <a:rPr lang="en-IN" sz="2400" dirty="0" smtClean="0">
                <a:latin typeface="Roboto Light" panose="02000000000000000000" pitchFamily="2" charset="0"/>
                <a:ea typeface="Roboto Light" panose="02000000000000000000" pitchFamily="2" charset="0"/>
              </a:rPr>
              <a:t>Recommendations</a:t>
            </a:r>
            <a:endParaRPr lang="en-US" sz="2400" dirty="0" err="1" smtClean="0">
              <a:latin typeface="Roboto Light" panose="02000000000000000000" pitchFamily="2" charset="0"/>
              <a:ea typeface="Roboto Light" panose="02000000000000000000" pitchFamily="2" charset="0"/>
            </a:endParaRPr>
          </a:p>
        </p:txBody>
      </p:sp>
      <p:sp>
        <p:nvSpPr>
          <p:cNvPr id="3" name="TextBox 2"/>
          <p:cNvSpPr txBox="1"/>
          <p:nvPr/>
        </p:nvSpPr>
        <p:spPr>
          <a:xfrm>
            <a:off x="1066800" y="1409700"/>
            <a:ext cx="9467850" cy="4562475"/>
          </a:xfrm>
          <a:prstGeom prst="rect">
            <a:avLst/>
          </a:prstGeom>
          <a:noFill/>
        </p:spPr>
        <p:txBody>
          <a:bodyPr wrap="square" lIns="0" tIns="0" rIns="0" bIns="0" rtlCol="0" anchor="t">
            <a:noAutofit/>
          </a:bodyPr>
          <a:lstStyle/>
          <a:p>
            <a:pPr algn="l"/>
            <a:endParaRPr lang="en-US" sz="1200" dirty="0" err="1" smtClean="0">
              <a:latin typeface="Roboto Light" panose="02000000000000000000" pitchFamily="2" charset="0"/>
              <a:ea typeface="Roboto Light" panose="02000000000000000000" pitchFamily="2" charset="0"/>
            </a:endParaRPr>
          </a:p>
        </p:txBody>
      </p:sp>
      <p:sp>
        <p:nvSpPr>
          <p:cNvPr id="4" name="TextBox 3"/>
          <p:cNvSpPr txBox="1"/>
          <p:nvPr/>
        </p:nvSpPr>
        <p:spPr>
          <a:xfrm>
            <a:off x="1133474" y="1209675"/>
            <a:ext cx="8658225" cy="3429000"/>
          </a:xfrm>
          <a:prstGeom prst="rect">
            <a:avLst/>
          </a:prstGeom>
          <a:noFill/>
        </p:spPr>
        <p:txBody>
          <a:bodyPr wrap="none" lIns="0" tIns="0" rIns="0" bIns="0" rtlCol="0" anchor="t">
            <a:noAutofit/>
          </a:bodyPr>
          <a:lstStyle/>
          <a:p>
            <a:pPr algn="l"/>
            <a:r>
              <a:rPr lang="en-IN" sz="2400" dirty="0" smtClean="0">
                <a:latin typeface="Roboto Light" panose="02000000000000000000" pitchFamily="2" charset="0"/>
                <a:ea typeface="Roboto Light" panose="02000000000000000000" pitchFamily="2" charset="0"/>
              </a:rPr>
              <a:t>Strategic recommendations</a:t>
            </a:r>
          </a:p>
          <a:p>
            <a:pPr algn="l">
              <a:lnSpc>
                <a:spcPct val="200000"/>
              </a:lnSpc>
              <a:buFont typeface="Arial" pitchFamily="34" charset="0"/>
              <a:buChar char="•"/>
            </a:pPr>
            <a:r>
              <a:rPr lang="en-IN" sz="2000" dirty="0" smtClean="0">
                <a:latin typeface="Roboto Light" panose="02000000000000000000" pitchFamily="2" charset="0"/>
                <a:ea typeface="Roboto Light" panose="02000000000000000000" pitchFamily="2" charset="0"/>
              </a:rPr>
              <a:t>Roll out successful trial initiatives to similar stores.</a:t>
            </a:r>
          </a:p>
          <a:p>
            <a:pPr algn="l">
              <a:lnSpc>
                <a:spcPct val="200000"/>
              </a:lnSpc>
              <a:buFont typeface="Arial" pitchFamily="34" charset="0"/>
              <a:buChar char="•"/>
            </a:pPr>
            <a:r>
              <a:rPr lang="en-IN" sz="2000" dirty="0" smtClean="0">
                <a:latin typeface="Roboto Light" panose="02000000000000000000" pitchFamily="2" charset="0"/>
                <a:ea typeface="Roboto Light" panose="02000000000000000000" pitchFamily="2" charset="0"/>
              </a:rPr>
              <a:t>Focus marketing investment on high performing brands.</a:t>
            </a:r>
          </a:p>
          <a:p>
            <a:pPr algn="l">
              <a:lnSpc>
                <a:spcPct val="200000"/>
              </a:lnSpc>
              <a:buFont typeface="Arial" pitchFamily="34" charset="0"/>
              <a:buChar char="•"/>
            </a:pPr>
            <a:r>
              <a:rPr lang="en-IN" sz="2000" dirty="0" smtClean="0">
                <a:latin typeface="Roboto Light" panose="02000000000000000000" pitchFamily="2" charset="0"/>
                <a:ea typeface="Roboto Light" panose="02000000000000000000" pitchFamily="2" charset="0"/>
              </a:rPr>
              <a:t>Continue targeting family based customer segments.</a:t>
            </a:r>
          </a:p>
          <a:p>
            <a:pPr algn="l">
              <a:lnSpc>
                <a:spcPct val="200000"/>
              </a:lnSpc>
              <a:buFont typeface="Arial" pitchFamily="34" charset="0"/>
              <a:buChar char="•"/>
            </a:pPr>
            <a:r>
              <a:rPr lang="en-IN" sz="2000" dirty="0" smtClean="0">
                <a:latin typeface="Roboto Light" panose="02000000000000000000" pitchFamily="2" charset="0"/>
                <a:ea typeface="Roboto Light" panose="02000000000000000000" pitchFamily="2" charset="0"/>
              </a:rPr>
              <a:t>Monitor sales and customer behaviour post rollout.</a:t>
            </a:r>
          </a:p>
          <a:p>
            <a:pPr algn="l">
              <a:lnSpc>
                <a:spcPct val="200000"/>
              </a:lnSpc>
              <a:buFont typeface="Arial" pitchFamily="34" charset="0"/>
              <a:buChar char="•"/>
            </a:pPr>
            <a:r>
              <a:rPr lang="en-IN" sz="2000" dirty="0" smtClean="0">
                <a:latin typeface="Roboto Light" panose="02000000000000000000" pitchFamily="2" charset="0"/>
                <a:ea typeface="Roboto Light" panose="02000000000000000000" pitchFamily="2" charset="0"/>
              </a:rPr>
              <a:t>Use trial methodology for future category testing.</a:t>
            </a:r>
            <a:endParaRPr lang="en-US" sz="2000" dirty="0" err="1" smtClean="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xmlns="" val="32216208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xmlns=""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6408</TotalTime>
  <Words>275</Words>
  <Application>Microsoft Office PowerPoint</Application>
  <PresentationFormat>Custom</PresentationFormat>
  <Paragraphs>54</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Roboto Medium</vt:lpstr>
      <vt:lpstr>Roboto Light</vt:lpstr>
      <vt:lpstr>Roboto</vt:lpstr>
      <vt:lpstr>Calibri</vt:lpstr>
      <vt:lpstr>Wingdings</vt:lpstr>
      <vt:lpstr>Office Theme</vt:lpstr>
      <vt:lpstr>Category review: Chips</vt:lpstr>
      <vt:lpstr>Slide 2</vt:lpstr>
      <vt:lpstr>Category Behaviour</vt:lpstr>
      <vt:lpstr>Slide 4</vt:lpstr>
      <vt:lpstr>Slide 5</vt:lpstr>
      <vt:lpstr>Trial Results</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Windows User</cp:lastModifiedBy>
  <cp:revision>471</cp:revision>
  <dcterms:created xsi:type="dcterms:W3CDTF">2018-02-07T23:23:24Z</dcterms:created>
  <dcterms:modified xsi:type="dcterms:W3CDTF">2026-06-16T16:22:24Z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